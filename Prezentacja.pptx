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C105C66-B7A7-4E2B-B2B6-62775F40CD5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E5E381-C309-4BA9-8300-D5FF8D198C6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3686FD-4503-48C0-8E02-2B38FE83D3B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57CD60C-2078-4B2F-B992-AB979E84563D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0C85AE-F86F-476F-9FA4-2A06AD6781DE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20783C-4EBF-4862-AACE-D2EDD6725F31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3C88C02-417B-42B1-BADE-9A76FCBD964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ECD49F0-768E-4673-9A4F-F2192B15B161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C136F0-B7A9-4C21-B2F6-ABEC14B7C06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5237CD4-7875-42EA-8D6B-4A6C253AE957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EFA41FD-9CE2-4E34-9732-A24CD07691A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tytułu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5AEF5E-D02A-4E12-A952-73681F6F23D2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000000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000000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000000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EBA934-10BF-47CE-8102-036C7FACFEB3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8A2BB8-5614-4E8B-B47C-DC3C97723E83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4332D0-54ED-43A4-895B-08C9EF7EF786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tytułu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Drugi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Trzeci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Czwarty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Piąty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Szósty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Siódmy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694BCF-ECB9-4783-A13B-7DB635103890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tytułu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Drugi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Trzeci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Czwarty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Piąty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Szósty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Siódmy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Drugi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Trzeci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Czwarty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Piąty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Szósty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Siódmy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B081E9-A735-4A8D-B2C5-68276A7645C3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tytułu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5334E4-8C6E-434B-8AF8-23672592FC12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A1DF6A-7478-44D9-B2B9-B84C5F177F0B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D46BFF-03E4-4450-B2F8-88AC958DB632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37CEE9-9B4F-4100-9BF4-36CC814DEB06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5DD6F0-4431-4382-8FBC-87FB372E6B83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002400" y="1166760"/>
            <a:ext cx="5853960" cy="138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l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Warsztaty REST API z Express.js</a:t>
            </a: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3002400" y="2548800"/>
            <a:ext cx="585396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" sz="2800" spc="-1" strike="noStrike">
                <a:solidFill>
                  <a:schemeClr val="dk2"/>
                </a:solidFill>
                <a:latin typeface="Montserrat Medium"/>
                <a:ea typeface="Montserrat Medium"/>
              </a:rPr>
              <a:t>Patryk Tokarz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Google Shape;56;p13" descr=""/>
          <p:cNvPicPr/>
          <p:nvPr/>
        </p:nvPicPr>
        <p:blipFill>
          <a:blip r:embed="rId1"/>
          <a:stretch/>
        </p:blipFill>
        <p:spPr>
          <a:xfrm>
            <a:off x="0" y="4451400"/>
            <a:ext cx="9143280" cy="691200"/>
          </a:xfrm>
          <a:prstGeom prst="rect">
            <a:avLst/>
          </a:prstGeom>
          <a:ln w="0">
            <a:noFill/>
          </a:ln>
        </p:spPr>
      </p:pic>
      <p:pic>
        <p:nvPicPr>
          <p:cNvPr id="31" name="Google Shape;57;p13" descr=""/>
          <p:cNvPicPr/>
          <p:nvPr/>
        </p:nvPicPr>
        <p:blipFill>
          <a:blip r:embed="rId2"/>
          <a:srcRect l="8218" t="17228" r="6138" b="11140"/>
          <a:stretch/>
        </p:blipFill>
        <p:spPr>
          <a:xfrm>
            <a:off x="0" y="0"/>
            <a:ext cx="415836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62;p14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33" name="Google Shape;63;p14"/>
          <p:cNvSpPr/>
          <p:nvPr/>
        </p:nvSpPr>
        <p:spPr>
          <a:xfrm>
            <a:off x="520560" y="177840"/>
            <a:ext cx="433008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3500" spc="-1" strike="noStrike">
                <a:solidFill>
                  <a:srgbClr val="000000"/>
                </a:solidFill>
                <a:latin typeface="Montserrat"/>
                <a:ea typeface="Montserrat"/>
              </a:rPr>
              <a:t>Poznaj Stację IT</a:t>
            </a:r>
            <a:endParaRPr b="0" lang="pl-PL" sz="3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Google Shape;64;p14" descr=""/>
          <p:cNvPicPr/>
          <p:nvPr/>
        </p:nvPicPr>
        <p:blipFill>
          <a:blip r:embed="rId2"/>
          <a:stretch/>
        </p:blipFill>
        <p:spPr>
          <a:xfrm>
            <a:off x="0" y="1101240"/>
            <a:ext cx="3510360" cy="3510360"/>
          </a:xfrm>
          <a:prstGeom prst="rect">
            <a:avLst/>
          </a:prstGeom>
          <a:ln w="0">
            <a:noFill/>
          </a:ln>
        </p:spPr>
      </p:pic>
      <p:pic>
        <p:nvPicPr>
          <p:cNvPr id="35" name="Google Shape;65;p14" descr=""/>
          <p:cNvPicPr/>
          <p:nvPr/>
        </p:nvPicPr>
        <p:blipFill>
          <a:blip r:embed="rId3"/>
          <a:stretch/>
        </p:blipFill>
        <p:spPr>
          <a:xfrm>
            <a:off x="2928600" y="1101240"/>
            <a:ext cx="3510360" cy="3510360"/>
          </a:xfrm>
          <a:prstGeom prst="rect">
            <a:avLst/>
          </a:prstGeom>
          <a:ln w="0">
            <a:noFill/>
          </a:ln>
        </p:spPr>
      </p:pic>
      <p:pic>
        <p:nvPicPr>
          <p:cNvPr id="36" name="Google Shape;66;p14" descr=""/>
          <p:cNvPicPr/>
          <p:nvPr/>
        </p:nvPicPr>
        <p:blipFill>
          <a:blip r:embed="rId4"/>
          <a:stretch/>
        </p:blipFill>
        <p:spPr>
          <a:xfrm>
            <a:off x="5898960" y="1101240"/>
            <a:ext cx="3510360" cy="3510360"/>
          </a:xfrm>
          <a:prstGeom prst="rect">
            <a:avLst/>
          </a:prstGeom>
          <a:ln w="0">
            <a:noFill/>
          </a:ln>
        </p:spPr>
      </p:pic>
      <p:pic>
        <p:nvPicPr>
          <p:cNvPr id="37" name="Google Shape;67;p14" descr=""/>
          <p:cNvPicPr/>
          <p:nvPr/>
        </p:nvPicPr>
        <p:blipFill>
          <a:blip r:embed="rId5"/>
          <a:stretch/>
        </p:blipFill>
        <p:spPr>
          <a:xfrm>
            <a:off x="0" y="4451400"/>
            <a:ext cx="9143280" cy="69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72;p15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subTitle"/>
          </p:nvPr>
        </p:nvSpPr>
        <p:spPr>
          <a:xfrm>
            <a:off x="3780000" y="1158120"/>
            <a:ext cx="5096880" cy="31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l" sz="1600" spc="-1" strike="noStrike">
                <a:solidFill>
                  <a:schemeClr val="dk1"/>
                </a:solidFill>
                <a:latin typeface="Montserrat"/>
                <a:ea typeface="Montserrat"/>
              </a:rPr>
              <a:t>Programowania uczę się od 16 roku życia, a pierwsze zlecenia robiłem jeszcze jako nastolatek. Ma 17 lat komercyjnego doświadczenia – od prostych stron dla firm, aż po zaawansowane aplikacje frontendowe i backendowe.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l" sz="1600" spc="-1" strike="noStrike">
                <a:solidFill>
                  <a:schemeClr val="dk1"/>
                </a:solidFill>
                <a:latin typeface="Montserrat"/>
                <a:ea typeface="Montserrat"/>
              </a:rPr>
              <a:t>Specjalizuje się w JavaScript, React i Node.js, pracując jako Software Engineer w dużej firmie IT.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74;p15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Kilka słów o mnie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Google Shape;75;p15" descr=""/>
          <p:cNvPicPr/>
          <p:nvPr/>
        </p:nvPicPr>
        <p:blipFill>
          <a:blip r:embed="rId2"/>
          <a:stretch/>
        </p:blipFill>
        <p:spPr>
          <a:xfrm>
            <a:off x="0" y="4451400"/>
            <a:ext cx="9143280" cy="691200"/>
          </a:xfrm>
          <a:prstGeom prst="rect">
            <a:avLst/>
          </a:prstGeom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3"/>
          <a:stretch/>
        </p:blipFill>
        <p:spPr>
          <a:xfrm>
            <a:off x="540000" y="1260000"/>
            <a:ext cx="2699640" cy="280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80;p16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8408880" cy="31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Wprowadzenie do Express.js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Podstawy REST API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Routing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Middleware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Obsługa błędów i walidacji danych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Integracja z bazą danych SQLite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Testowanie za pomocą Postman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82;p16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Plan warsztatu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Google Shape;83;p16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80;p 3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8408880" cy="31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Backend to „silnik” aplikacji — część, która działa na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serwerze i nie jest widoczna dla użytkownika.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Backend służy do:</a:t>
            </a:r>
            <a:br>
              <a:rPr sz="2000"/>
            </a:b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solidFill>
                  <a:srgbClr val="000000"/>
                </a:solidFill>
                <a:latin typeface="Montserrat"/>
              </a:rPr>
              <a:t>Przetwarzania danych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solidFill>
                  <a:srgbClr val="000000"/>
                </a:solidFill>
                <a:latin typeface="Montserrat"/>
              </a:rPr>
              <a:t>Walidacji danych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solidFill>
                  <a:srgbClr val="000000"/>
                </a:solidFill>
                <a:latin typeface="Montserrat"/>
              </a:rPr>
              <a:t>Komunikacji z bazą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solidFill>
                  <a:srgbClr val="000000"/>
                </a:solidFill>
                <a:latin typeface="Montserrat"/>
              </a:rPr>
              <a:t>Autoryzacji i bezpieczeństwa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solidFill>
                  <a:srgbClr val="000000"/>
                </a:solidFill>
                <a:latin typeface="Montserrat"/>
              </a:rPr>
              <a:t>Generowanie odpowiedzi dla klienta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82;p 3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Czym jest Backend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Google Shape;83;p 3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80;p 2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8408880" cy="31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W nowoczesnych aplikacjach backend najczęściej</a:t>
            </a:r>
            <a:br>
              <a:rPr sz="2000"/>
            </a:b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oznacza </a:t>
            </a:r>
            <a:r>
              <a:rPr b="1" lang="pl-PL" sz="2000" spc="-1" strike="noStrike">
                <a:solidFill>
                  <a:srgbClr val="000000"/>
                </a:solidFill>
                <a:latin typeface="Montserrat"/>
              </a:rPr>
              <a:t>API</a:t>
            </a: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, czyli zestaw endpointów które: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odbierają żądania (request)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przetwarzają dane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</a:rPr>
              <a:t>zwracają odpowiedź np w formie JSON (response)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Google Shape;82;p 2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Czym jest API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Google Shape;83;p 2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80;p 4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8408880" cy="31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  <a:ea typeface="Microsoft YaHei"/>
              </a:rPr>
              <a:t>REST mówi:</a:t>
            </a:r>
            <a:br>
              <a:rPr sz="2000"/>
            </a:b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używaj standardowych metod HTTP (GET, POST, PUT, DELETE) – czyli CRUD,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dbaj o czytelne adresy,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zwracaj spójne odpowiedzi (najczęściej JSON),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nie zapisuj stanu po stronie serwera - każde żądanie jest niezależne. 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82;p 4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Czym jest REST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Google Shape;83;p 4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80;p 6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8408880" cy="31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CRUD to podstawowy zestaw operacji wykonywanych na danych w aplikacjach backendowych:  </a:t>
            </a:r>
            <a:br>
              <a:rPr sz="2000"/>
            </a:b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C – Create → tworzenie nowych danych (POST)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 – Read → pobieranie danych (GET)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U – Update → modyfikowanie danych (PUT)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D – Delete → usuwanie danych (DELETE)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 6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Czym jest CRUD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oogle Shape;83;p 6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80;p 8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64" name="Google Shape;82;p 8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Droga żądania w API 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Google Shape;83;p 8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3"/>
          <a:stretch/>
        </p:blipFill>
        <p:spPr>
          <a:xfrm>
            <a:off x="5040000" y="1620000"/>
            <a:ext cx="3393360" cy="2879640"/>
          </a:xfrm>
          <a:prstGeom prst="rect">
            <a:avLst/>
          </a:prstGeom>
          <a:ln w="0">
            <a:noFill/>
          </a:ln>
        </p:spPr>
      </p:pic>
      <p:sp>
        <p:nvSpPr>
          <p:cNvPr id="67" name=""/>
          <p:cNvSpPr/>
          <p:nvPr/>
        </p:nvSpPr>
        <p:spPr>
          <a:xfrm>
            <a:off x="540000" y="1800000"/>
            <a:ext cx="4139640" cy="26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1" lang="pl-PL" sz="1200" spc="-1" strike="noStrike">
                <a:solidFill>
                  <a:srgbClr val="000000"/>
                </a:solidFill>
                <a:latin typeface="Arial"/>
              </a:rPr>
              <a:t>Klient</a:t>
            </a:r>
            <a:r>
              <a:rPr b="0" lang="pl-PL" sz="1200" spc="-1" strike="noStrike">
                <a:solidFill>
                  <a:srgbClr val="000000"/>
                </a:solidFill>
                <a:latin typeface="Arial"/>
              </a:rPr>
              <a:t> wysyła zapytanie (</a:t>
            </a:r>
            <a:r>
              <a:rPr b="1" lang="pl-PL" sz="1200" spc="-1" strike="noStrike">
                <a:solidFill>
                  <a:srgbClr val="000000"/>
                </a:solidFill>
                <a:latin typeface="Arial"/>
              </a:rPr>
              <a:t>Request</a:t>
            </a:r>
            <a:r>
              <a:rPr b="0" lang="pl-PL" sz="12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1" lang="pl-PL" sz="1200" spc="-1" strike="noStrike">
                <a:solidFill>
                  <a:srgbClr val="000000"/>
                </a:solidFill>
                <a:latin typeface="Arial"/>
              </a:rPr>
              <a:t>Routing</a:t>
            </a:r>
            <a:r>
              <a:rPr b="0" lang="pl-PL" sz="1200" spc="-1" strike="noStrike">
                <a:solidFill>
                  <a:srgbClr val="000000"/>
                </a:solidFill>
                <a:latin typeface="Arial"/>
              </a:rPr>
              <a:t> przejmuje żądanie i wybiera </a:t>
            </a:r>
            <a:r>
              <a:rPr b="1" lang="pl-PL" sz="1200" spc="-1" strike="noStrike">
                <a:solidFill>
                  <a:srgbClr val="000000"/>
                </a:solidFill>
                <a:latin typeface="Arial"/>
              </a:rPr>
              <a:t>kontroler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1" lang="pl-PL" sz="1200" spc="-1" strike="noStrike">
                <a:solidFill>
                  <a:srgbClr val="000000"/>
                </a:solidFill>
                <a:latin typeface="Arial"/>
              </a:rPr>
              <a:t>Kontroler</a:t>
            </a:r>
            <a:r>
              <a:rPr b="0" lang="pl-PL" sz="1200" spc="-1" strike="noStrike">
                <a:solidFill>
                  <a:srgbClr val="000000"/>
                </a:solidFill>
                <a:latin typeface="Arial"/>
              </a:rPr>
              <a:t> przetwarza zapytanie wspomagając się </a:t>
            </a:r>
            <a:r>
              <a:rPr b="1" lang="pl-PL" sz="1200" spc="-1" strike="noStrike">
                <a:solidFill>
                  <a:srgbClr val="000000"/>
                </a:solidFill>
                <a:latin typeface="Arial"/>
              </a:rPr>
              <a:t>serwisem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1" lang="pl-PL" sz="1200" spc="-1" strike="noStrike">
                <a:solidFill>
                  <a:srgbClr val="000000"/>
                </a:solidFill>
                <a:latin typeface="Arial"/>
              </a:rPr>
              <a:t>Serwis</a:t>
            </a:r>
            <a:r>
              <a:rPr b="0" lang="pl-PL" sz="1200" spc="-1" strike="noStrike">
                <a:solidFill>
                  <a:srgbClr val="000000"/>
                </a:solidFill>
                <a:latin typeface="Arial"/>
              </a:rPr>
              <a:t> wykonuje logikę komunikuje się z </a:t>
            </a:r>
            <a:r>
              <a:rPr b="1" lang="pl-PL" sz="1200" spc="-1" strike="noStrike">
                <a:solidFill>
                  <a:srgbClr val="000000"/>
                </a:solidFill>
                <a:latin typeface="Arial"/>
              </a:rPr>
              <a:t>bazą danych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1" lang="pl-PL" sz="1200" spc="-1" strike="noStrike">
                <a:solidFill>
                  <a:srgbClr val="000000"/>
                </a:solidFill>
                <a:latin typeface="Arial"/>
              </a:rPr>
              <a:t>Baza danych</a:t>
            </a:r>
            <a:r>
              <a:rPr b="0" lang="pl-PL" sz="1200" spc="-1" strike="noStrike">
                <a:solidFill>
                  <a:srgbClr val="000000"/>
                </a:solidFill>
                <a:latin typeface="Arial"/>
              </a:rPr>
              <a:t> modyfikuje swoją zawartość lub zwraca dane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80;p 1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8408880" cy="31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To lekki </a:t>
            </a:r>
            <a:r>
              <a:rPr b="1" lang="pl-PL" sz="1300" spc="-1" strike="noStrike">
                <a:solidFill>
                  <a:srgbClr val="069a2e"/>
                </a:solidFill>
                <a:latin typeface="Montserrat"/>
              </a:rPr>
              <a:t>framework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 dla </a:t>
            </a:r>
            <a:r>
              <a:rPr b="1" lang="pl-PL" sz="1300" spc="-1" strike="noStrike">
                <a:solidFill>
                  <a:srgbClr val="069a2e"/>
                </a:solidFill>
                <a:latin typeface="Montserrat"/>
              </a:rPr>
              <a:t>Node.js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, który ułatwia tworzenie backendu.</a:t>
            </a:r>
            <a:br>
              <a:rPr sz="1300"/>
            </a:b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Zamiast pisać setki linii własnego kodu do obsługi requestów, Express daje:</a:t>
            </a:r>
            <a:br>
              <a:rPr sz="1300"/>
            </a:b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szybkie definiowanie tras (</a:t>
            </a:r>
            <a:r>
              <a:rPr b="1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GET, POST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, itd.)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wsparcie dla JSON-a 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system middleware (czyli filtrów/etapów przetwarzania requestu) 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łatwe tworzenie </a:t>
            </a:r>
            <a:r>
              <a:rPr b="1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REST API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prostą integrację z bazami danych 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82;p 1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Czym jest Express.js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Google Shape;83;p 1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80;p 5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82;p 5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Pierwszy serwer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Google Shape;83;p 5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720000" y="1080000"/>
            <a:ext cx="737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800" spc="-1" strike="noStrike">
                <a:solidFill>
                  <a:srgbClr val="000000"/>
                </a:solidFill>
                <a:latin typeface="Montserrat"/>
              </a:rPr>
              <a:t>Paczka startowa:</a:t>
            </a:r>
            <a:br>
              <a:rPr sz="1800"/>
            </a:br>
            <a:r>
              <a:rPr b="0" lang="pl-PL" sz="1800" spc="-1" strike="noStrike">
                <a:solidFill>
                  <a:srgbClr val="000000"/>
                </a:solidFill>
                <a:latin typeface="Montserrat"/>
              </a:rPr>
              <a:t>https://github.com/odevpl/workshop-api-express-1225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3"/>
          <a:stretch/>
        </p:blipFill>
        <p:spPr>
          <a:xfrm>
            <a:off x="2520000" y="1957320"/>
            <a:ext cx="3835440" cy="272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80;p 13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subTitle"/>
          </p:nvPr>
        </p:nvSpPr>
        <p:spPr>
          <a:xfrm>
            <a:off x="468000" y="1518120"/>
            <a:ext cx="4211640" cy="31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Definiowanie tras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Określ metodę HTTP</a:t>
            </a:r>
            <a:br>
              <a:rPr sz="1600"/>
            </a:br>
            <a:r>
              <a:rPr b="0" lang="pl-PL" sz="1000" spc="-1" strike="noStrike">
                <a:solidFill>
                  <a:srgbClr val="069a2e"/>
                </a:solidFill>
                <a:latin typeface="Montserrat"/>
                <a:ea typeface="Microsoft YaHei"/>
              </a:rPr>
              <a:t>(GET, POST, PUT, DELETE)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Zdefiniuj ścieżkę</a:t>
            </a:r>
            <a:br>
              <a:rPr sz="1600"/>
            </a:br>
            <a:r>
              <a:rPr b="0" lang="pl-PL" sz="1000" spc="-1" strike="noStrike">
                <a:solidFill>
                  <a:srgbClr val="069a2e"/>
                </a:solidFill>
                <a:latin typeface="Montserrat"/>
                <a:ea typeface="Microsoft YaHei"/>
              </a:rPr>
              <a:t>/api/products 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lub</a:t>
            </a:r>
            <a:r>
              <a:rPr b="0" lang="pl-PL" sz="1000" spc="-1" strike="noStrike">
                <a:solidFill>
                  <a:srgbClr val="069a2e"/>
                </a:solidFill>
                <a:latin typeface="Montserrat"/>
                <a:ea typeface="Microsoft YaHei"/>
              </a:rPr>
              <a:t> /api/products/:id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Wywołaj odpowiedni kontroler</a:t>
            </a:r>
            <a:br>
              <a:rPr sz="1600"/>
            </a:br>
            <a:br>
              <a:rPr sz="1600"/>
            </a:br>
            <a:r>
              <a:rPr b="0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82;p 13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Routing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Google Shape;83;p 13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3"/>
          <a:stretch/>
        </p:blipFill>
        <p:spPr>
          <a:xfrm>
            <a:off x="4680000" y="1484640"/>
            <a:ext cx="3399840" cy="229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0;p 25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83" name="Google Shape;82;p 25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Request i Response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Google Shape;83;p 25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81;p 13"/>
          <p:cNvSpPr/>
          <p:nvPr/>
        </p:nvSpPr>
        <p:spPr>
          <a:xfrm>
            <a:off x="360000" y="1260000"/>
            <a:ext cx="701964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REQUEST (req), dane przychodzące od klienta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600"/>
            </a:br>
            <a:r>
              <a:rPr b="0" lang="pl-PL" sz="1200" spc="-1" strike="noStrike">
                <a:solidFill>
                  <a:srgbClr val="000000"/>
                </a:solidFill>
                <a:latin typeface="Montserrat"/>
                <a:ea typeface="Microsoft YaHei"/>
              </a:rPr>
              <a:t>Obiekt req zawiera wszystko, co wysłał klient: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req.params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– parametry ścieżki (/products/:id)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req.query 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parametry zapytania (?sort=price)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req.body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– dane z formularzy lub JSON (POST/PUT)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req.headers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– nagłówki żądania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req.method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– metoda HTTP (GET/POST/PUT/DELETE)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req.url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– pełna ścieżka żądania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3"/>
          <a:stretch/>
        </p:blipFill>
        <p:spPr>
          <a:xfrm>
            <a:off x="4680000" y="1980000"/>
            <a:ext cx="4213800" cy="197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0;p 26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88" name="Google Shape;82;p 26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Request i Response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Google Shape;83;p 26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90" name="Google Shape;81;p 17"/>
          <p:cNvSpPr/>
          <p:nvPr/>
        </p:nvSpPr>
        <p:spPr>
          <a:xfrm>
            <a:off x="360000" y="1260000"/>
            <a:ext cx="611964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RESPONSE (res) — odpowiedź wysyłana do klienta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Arial"/>
                <a:ea typeface="Microsoft YaHei"/>
              </a:rPr>
              <a:t>Obiekt </a:t>
            </a:r>
            <a:r>
              <a:rPr b="1" lang="pl-PL" sz="1200" spc="-1" strike="noStrike">
                <a:solidFill>
                  <a:srgbClr val="000000"/>
                </a:solidFill>
                <a:latin typeface="Arial"/>
                <a:ea typeface="Microsoft YaHei"/>
              </a:rPr>
              <a:t>res</a:t>
            </a:r>
            <a:r>
              <a:rPr b="0" lang="pl-PL" sz="1200" spc="-1" strike="noStrike">
                <a:solidFill>
                  <a:srgbClr val="000000"/>
                </a:solidFill>
                <a:latin typeface="Arial"/>
                <a:ea typeface="Microsoft YaHei"/>
              </a:rPr>
              <a:t> pozwala odesłać dane z powrotem do klienta: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res.json(data)</a:t>
            </a:r>
            <a:r>
              <a:rPr b="0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– zwraca JSON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res.status(code)</a:t>
            </a:r>
            <a:r>
              <a:rPr b="0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– ustawia kod odpowiedzi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res.send(text)</a:t>
            </a:r>
            <a:r>
              <a:rPr b="0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– wysyła tekst/HTML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res.end()</a:t>
            </a:r>
            <a:r>
              <a:rPr b="0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– zamyka odpowiedź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3"/>
          <a:stretch/>
        </p:blipFill>
        <p:spPr>
          <a:xfrm>
            <a:off x="4493880" y="1800000"/>
            <a:ext cx="3965760" cy="182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80;p 24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93" name="Google Shape;82;p 24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Przesyłanie danych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Google Shape;83;p 24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95" name="Google Shape;81;p 11"/>
          <p:cNvSpPr/>
          <p:nvPr/>
        </p:nvSpPr>
        <p:spPr>
          <a:xfrm>
            <a:off x="360000" y="1260000"/>
            <a:ext cx="449964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Parametry ścieżki (params)</a:t>
            </a:r>
            <a:br>
              <a:rPr sz="1600"/>
            </a:br>
            <a:br>
              <a:rPr sz="16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To dynamiczne fragmenty ścieżki URL, które pozwalają przekazać konkretne wartości — najczęściej identyfikatory zasobów — bezpośrednio w adresie. Stosuje się je do operacji na pojedynczych elementach, takich jak pobieranie, aktualizacja czy usuwanie konkretnego produktu: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/products/:id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Params precyzyjnie wskazują, na którym zasobie ma zostać wykonana operacja, dzięki czemu adresy API są proste i zgodne z zasadami REST.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W Express odczytujemy je za pomocą req.params, np.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req.params.id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.</a:t>
            </a:r>
            <a:br>
              <a:rPr sz="1000"/>
            </a:b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200" spc="-1" strike="noStrike">
                <a:solidFill>
                  <a:srgbClr val="000000"/>
                </a:solidFill>
                <a:latin typeface="Montserrat"/>
                <a:ea typeface="Microsoft YaHei"/>
              </a:rPr>
              <a:t>Zastosowanie: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pobieranie konkretnego elementu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aktualizacja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usuwanie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3"/>
          <a:stretch/>
        </p:blipFill>
        <p:spPr>
          <a:xfrm>
            <a:off x="5040000" y="2340000"/>
            <a:ext cx="3344760" cy="94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80;p 9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98" name="Google Shape;82;p 9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Przesyłanie danych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Google Shape;83;p 9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00" name="Google Shape;81;p 8"/>
          <p:cNvSpPr/>
          <p:nvPr/>
        </p:nvSpPr>
        <p:spPr>
          <a:xfrm>
            <a:off x="540000" y="1260000"/>
            <a:ext cx="6119640" cy="26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Parametry zapytania (query)</a:t>
            </a:r>
            <a:br>
              <a:rPr sz="1600"/>
            </a:br>
            <a:br>
              <a:rPr sz="16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To dane przekazywane w adresie URL po znaku ? i używane do kontrolowania sposobu pobierania informacji z API, bez modyfikowania samego adresu zasobu. Najczęściej służą do filtrowania, sortowania, wyszukiwania lub paginacji —</a:t>
            </a:r>
            <a:br>
              <a:rPr sz="1000"/>
            </a:b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np. /products?limit=10&amp;sort=price.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Query nie zmieniają zasobu, którego dotyczy żądanie — wpływają jedynie na to, jakie dane i w jakiej formie zostaną zwrócone.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W Express odczytujemy je przez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req.query</a:t>
            </a:r>
            <a:br>
              <a:rPr sz="1000"/>
            </a:b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l-PL" sz="1200" spc="-1" strike="noStrike">
                <a:solidFill>
                  <a:srgbClr val="000000"/>
                </a:solidFill>
                <a:latin typeface="Montserrat"/>
                <a:ea typeface="Microsoft YaHei"/>
              </a:rPr>
              <a:t>Zastosowanie: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filtrowanie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sortowanie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paginacja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3"/>
          <a:stretch/>
        </p:blipFill>
        <p:spPr>
          <a:xfrm>
            <a:off x="4320000" y="2934000"/>
            <a:ext cx="4139640" cy="192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80;p 11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03" name="Google Shape;82;p 11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Przesyłanie danych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Google Shape;83;p 11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81;p 9"/>
          <p:cNvSpPr/>
          <p:nvPr/>
        </p:nvSpPr>
        <p:spPr>
          <a:xfrm>
            <a:off x="540000" y="1080000"/>
            <a:ext cx="4319640" cy="23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Montserrat"/>
                <a:ea typeface="Microsoft YaHei"/>
              </a:rPr>
              <a:t>Body (treść żądania)</a:t>
            </a:r>
            <a:br>
              <a:rPr sz="1600"/>
            </a:br>
            <a:br>
              <a:rPr sz="16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Body to dane wysyłane w treści żądania — najczęściej w metodach POST, PUT lub PATCH — i wykorzystywane do tworzenia lub aktualizowania zasobów. Informacje w body przesyłane są zazwyczaj w formacie JSON i mogą zawierać złożone struktury danych, takie jak obiekty i tablice.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To właśnie body przekazuje „mięso” operacji CRUD, czyli konkretne wartości, które mają zostać zapisane lub zmienione w bazie.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W Express dostęp do body uzyskujemy poprzez req.body, po wcześniejszym włączeniu: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540000" y="3536280"/>
            <a:ext cx="2761560" cy="132336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5220000" y="1440000"/>
            <a:ext cx="30596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1" lang="pl-PL" sz="1200" spc="-1" strike="noStrike">
                <a:solidFill>
                  <a:srgbClr val="000000"/>
                </a:solidFill>
                <a:latin typeface="Montserrat"/>
                <a:ea typeface="Microsoft YaHei"/>
              </a:rPr>
              <a:t>Zastosowanie: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tworzenie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aktualizacja   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przesyłanie danych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– formularze 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80;p 16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09" name="Google Shape;82;p 16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Middleware - wbudowane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Google Shape;83;p 16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11" name="Google Shape;81;p 14"/>
          <p:cNvSpPr/>
          <p:nvPr/>
        </p:nvSpPr>
        <p:spPr>
          <a:xfrm>
            <a:off x="540000" y="1260000"/>
            <a:ext cx="8099640" cy="32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Arial"/>
                <a:ea typeface="Microsoft YaHei"/>
              </a:rPr>
              <a:t>Wbudowane middleware to funkcje dostarczone przez Express, które wykonują najczęściej potrzebne operacje jeszcze zanim żądanie trafi do Twoich kontrolerów.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Arial"/>
                <a:ea typeface="Microsoft YaHei"/>
              </a:rPr>
              <a:t>Pomagają m.in. w parsowaniu danych, obsłudze statycznych plików czy przekazywaniu informacji do req.</a:t>
            </a:r>
            <a:br>
              <a:rPr sz="1200"/>
            </a:br>
            <a:br>
              <a:rPr sz="1200"/>
            </a:b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Arial"/>
                <a:ea typeface="Microsoft YaHei"/>
              </a:rPr>
              <a:t>Najczęściej używane, to: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express.json()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express.urlencoded({ extended: true })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express.static("public")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express.text()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express.raw()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80;p 14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13" name="Google Shape;82;p 14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Middleware - wbudowane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Google Shape;83;p 14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15" name="Google Shape;81;p 10"/>
          <p:cNvSpPr/>
          <p:nvPr/>
        </p:nvSpPr>
        <p:spPr>
          <a:xfrm>
            <a:off x="540000" y="2340000"/>
            <a:ext cx="37796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200" spc="-1" strike="noStrike">
                <a:solidFill>
                  <a:srgbClr val="000000"/>
                </a:solidFill>
                <a:latin typeface="Montserrat"/>
                <a:ea typeface="Microsoft YaHei"/>
              </a:rPr>
              <a:t>express.json() — obsługa JSON w req.body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Parsuje treść żądania jako JSON i przypisuje ją do req.body.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3"/>
          <a:stretch/>
        </p:blipFill>
        <p:spPr>
          <a:xfrm>
            <a:off x="5040000" y="1345320"/>
            <a:ext cx="2542320" cy="279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80;p 10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18" name="Google Shape;82;p 10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Middleware - wbudowane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Google Shape;83;p 10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20" name="Google Shape;81;p 7"/>
          <p:cNvSpPr/>
          <p:nvPr/>
        </p:nvSpPr>
        <p:spPr>
          <a:xfrm>
            <a:off x="540000" y="2340000"/>
            <a:ext cx="43196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200" spc="-1" strike="noStrike">
                <a:solidFill>
                  <a:srgbClr val="000000"/>
                </a:solidFill>
                <a:latin typeface="Montserrat"/>
                <a:ea typeface="Microsoft YaHei"/>
              </a:rPr>
              <a:t>express.urlencoded() — obsługa formularzy HTML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Parsuje dane wysłane jako application/x-www-form-urlencoded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(czyli klasyczne formularze &lt;form&gt; w HTML).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3"/>
          <a:stretch/>
        </p:blipFill>
        <p:spPr>
          <a:xfrm>
            <a:off x="5096880" y="1465920"/>
            <a:ext cx="3542760" cy="249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80;p 27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82;p 27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Middleware - wbudowane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Google Shape;83;p 27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25" name="Google Shape;81;p 18"/>
          <p:cNvSpPr/>
          <p:nvPr/>
        </p:nvSpPr>
        <p:spPr>
          <a:xfrm>
            <a:off x="540000" y="2340000"/>
            <a:ext cx="43196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200" spc="-1" strike="noStrike">
                <a:solidFill>
                  <a:srgbClr val="000000"/>
                </a:solidFill>
                <a:latin typeface="Montserrat"/>
                <a:ea typeface="Microsoft YaHei"/>
              </a:rPr>
              <a:t>express.static() — serwowanie plików statycznych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Pozwala wystawić publiczny katalog z plikami (np. zdjęcia, CSS, JS).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3"/>
          <a:stretch/>
        </p:blipFill>
        <p:spPr>
          <a:xfrm>
            <a:off x="5050440" y="1620000"/>
            <a:ext cx="3589200" cy="217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80;p 28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82;p 28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Middleware - własne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Google Shape;83;p 28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30" name="Google Shape;81;p 20"/>
          <p:cNvSpPr/>
          <p:nvPr/>
        </p:nvSpPr>
        <p:spPr>
          <a:xfrm>
            <a:off x="540000" y="1260000"/>
            <a:ext cx="359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Middleware zwykłe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Posiada 3 argumenty.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3"/>
          <a:stretch/>
        </p:blipFill>
        <p:spPr>
          <a:xfrm>
            <a:off x="504000" y="1980000"/>
            <a:ext cx="3807000" cy="1201680"/>
          </a:xfrm>
          <a:prstGeom prst="rect">
            <a:avLst/>
          </a:prstGeom>
          <a:ln w="0">
            <a:noFill/>
          </a:ln>
        </p:spPr>
      </p:pic>
      <p:sp>
        <p:nvSpPr>
          <p:cNvPr id="132" name="Google Shape;81;p 21"/>
          <p:cNvSpPr/>
          <p:nvPr/>
        </p:nvSpPr>
        <p:spPr>
          <a:xfrm>
            <a:off x="540000" y="3240000"/>
            <a:ext cx="359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Funkcja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next()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pozwala iść dalej.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4"/>
          <a:stretch/>
        </p:blipFill>
        <p:spPr>
          <a:xfrm>
            <a:off x="4500000" y="1980000"/>
            <a:ext cx="4139640" cy="2558160"/>
          </a:xfrm>
          <a:prstGeom prst="rect">
            <a:avLst/>
          </a:prstGeom>
          <a:ln w="0">
            <a:noFill/>
          </a:ln>
        </p:spPr>
      </p:pic>
      <p:sp>
        <p:nvSpPr>
          <p:cNvPr id="134" name="Google Shape;81;p 22"/>
          <p:cNvSpPr/>
          <p:nvPr/>
        </p:nvSpPr>
        <p:spPr>
          <a:xfrm>
            <a:off x="4500000" y="4430520"/>
            <a:ext cx="269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W nagłówki http wymagany: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Authorization: Bearer SECRET123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81;p 23"/>
          <p:cNvSpPr/>
          <p:nvPr/>
        </p:nvSpPr>
        <p:spPr>
          <a:xfrm>
            <a:off x="540000" y="1260000"/>
            <a:ext cx="431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Middleware zwykłe – app.use(middleware)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Posiada 3 argumenty.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80;p 17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37" name="Google Shape;82;p 17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Middleware - własne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Google Shape;83;p 17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39" name="Google Shape;81;p 15"/>
          <p:cNvSpPr/>
          <p:nvPr/>
        </p:nvSpPr>
        <p:spPr>
          <a:xfrm>
            <a:off x="540000" y="1260000"/>
            <a:ext cx="359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Middleware zwykłe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Posiada 3 argumenty.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81;p 16"/>
          <p:cNvSpPr/>
          <p:nvPr/>
        </p:nvSpPr>
        <p:spPr>
          <a:xfrm>
            <a:off x="540000" y="3780000"/>
            <a:ext cx="359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Funkcja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next()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pozwala iść dalej.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81;p 24"/>
          <p:cNvSpPr/>
          <p:nvPr/>
        </p:nvSpPr>
        <p:spPr>
          <a:xfrm>
            <a:off x="540000" y="1260000"/>
            <a:ext cx="431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Middleware zwykłe – w routerze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Posiada 3 argumenty.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3"/>
          <a:stretch/>
        </p:blipFill>
        <p:spPr>
          <a:xfrm>
            <a:off x="568800" y="1951920"/>
            <a:ext cx="4290840" cy="182772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4"/>
          <a:stretch/>
        </p:blipFill>
        <p:spPr>
          <a:xfrm>
            <a:off x="4990320" y="1980000"/>
            <a:ext cx="3829320" cy="65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80;p 29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45" name="Google Shape;82;p 29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Middleware - własne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Google Shape;83;p 29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47" name="Google Shape;81;p 27"/>
          <p:cNvSpPr/>
          <p:nvPr/>
        </p:nvSpPr>
        <p:spPr>
          <a:xfrm>
            <a:off x="540000" y="1440000"/>
            <a:ext cx="34196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Middleware błędów</a:t>
            </a:r>
            <a:br>
              <a:rPr sz="1400"/>
            </a:b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Posiada 4 argumenty.</a:t>
            </a:r>
            <a:br>
              <a:rPr sz="1000"/>
            </a:b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Express NIE uruchomi go, dopóki: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jakiś kod nie rzuci błędem (throw)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nie wywołasz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next(err)</a:t>
            </a:r>
            <a:br>
              <a:rPr sz="1000"/>
            </a:b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Wtedy pipeline „przeskakuje” zwykłe middleware i trafia do obsługi błędów.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3"/>
          <a:stretch/>
        </p:blipFill>
        <p:spPr>
          <a:xfrm>
            <a:off x="4140000" y="1609920"/>
            <a:ext cx="4283640" cy="198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80;p 15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50" name="Google Shape;82;p 15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SQLite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oogle Shape;83;p 15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sp>
        <p:nvSpPr>
          <p:cNvPr id="152" name=""/>
          <p:cNvSpPr/>
          <p:nvPr/>
        </p:nvSpPr>
        <p:spPr>
          <a:xfrm>
            <a:off x="1620000" y="1440000"/>
            <a:ext cx="5579640" cy="31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1" lang="pl-PL" sz="1400" spc="-1" strike="noStrike">
                <a:solidFill>
                  <a:srgbClr val="000000"/>
                </a:solidFill>
                <a:latin typeface="Montserrat"/>
              </a:rPr>
              <a:t>Prosta i lekka baza danych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SQLite to plikowa baza danych, która nie wymaga serwera.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Cała aplikacja korzysta z jednego pliku .sqlite, który zapisuje dane lokalnie.</a:t>
            </a: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Działa szybko, prosto i świetnie nadaje się do małych API, prototypów i nauki backendu. </a:t>
            </a:r>
            <a:br>
              <a:rPr sz="1000"/>
            </a:br>
            <a:br>
              <a:rPr sz="1000"/>
            </a:b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W naszym projekcie używamy biblioteki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better-sqlite3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Dlaczego SQLite jest dobre na start?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nie wymaga konfiguracji ani uruchamiania serwera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zapisuje dane w pliku → łatwo zrobić kopię lub usunąć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działa szybko i przewidywalnie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świetnie nadaje się do nauki SQL i backendu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kod jest prosty i przejrzysty (szczególnie z better-sqlite3)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80;p 18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54" name="Google Shape;82;p 18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SQLite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Google Shape;83;p 18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3"/>
          <a:stretch/>
        </p:blipFill>
        <p:spPr>
          <a:xfrm>
            <a:off x="252000" y="1295640"/>
            <a:ext cx="3523680" cy="828000"/>
          </a:xfrm>
          <a:prstGeom prst="rect">
            <a:avLst/>
          </a:prstGeom>
          <a:ln w="0">
            <a:noFill/>
          </a:ln>
        </p:spPr>
      </p:pic>
      <p:sp>
        <p:nvSpPr>
          <p:cNvPr id="157" name=""/>
          <p:cNvSpPr/>
          <p:nvPr/>
        </p:nvSpPr>
        <p:spPr>
          <a:xfrm>
            <a:off x="252000" y="110412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Pobieranie Wszystkich rekordów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320000" y="110664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Pobieranie wybranego rekordu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4"/>
          <a:stretch/>
        </p:blipFill>
        <p:spPr>
          <a:xfrm>
            <a:off x="4320000" y="1333800"/>
            <a:ext cx="3959640" cy="78984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5"/>
          <a:stretch/>
        </p:blipFill>
        <p:spPr>
          <a:xfrm>
            <a:off x="252000" y="2382840"/>
            <a:ext cx="3959640" cy="1504800"/>
          </a:xfrm>
          <a:prstGeom prst="rect">
            <a:avLst/>
          </a:prstGeom>
          <a:ln w="0">
            <a:noFill/>
          </a:ln>
        </p:spPr>
      </p:pic>
      <p:sp>
        <p:nvSpPr>
          <p:cNvPr id="161" name=""/>
          <p:cNvSpPr/>
          <p:nvPr/>
        </p:nvSpPr>
        <p:spPr>
          <a:xfrm>
            <a:off x="252000" y="218412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Dodawanie rekordu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6"/>
          <a:stretch/>
        </p:blipFill>
        <p:spPr>
          <a:xfrm>
            <a:off x="4311720" y="2376000"/>
            <a:ext cx="4651920" cy="1410120"/>
          </a:xfrm>
          <a:prstGeom prst="rect">
            <a:avLst/>
          </a:prstGeom>
          <a:ln w="0">
            <a:noFill/>
          </a:ln>
        </p:spPr>
      </p:pic>
      <p:sp>
        <p:nvSpPr>
          <p:cNvPr id="163" name=""/>
          <p:cNvSpPr/>
          <p:nvPr/>
        </p:nvSpPr>
        <p:spPr>
          <a:xfrm>
            <a:off x="4320000" y="219600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Aktualizacja rekordu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7"/>
          <a:stretch/>
        </p:blipFill>
        <p:spPr>
          <a:xfrm>
            <a:off x="252000" y="4140000"/>
            <a:ext cx="3795480" cy="684720"/>
          </a:xfrm>
          <a:prstGeom prst="rect">
            <a:avLst/>
          </a:prstGeom>
          <a:ln w="0">
            <a:noFill/>
          </a:ln>
        </p:spPr>
      </p:pic>
      <p:sp>
        <p:nvSpPr>
          <p:cNvPr id="165" name=""/>
          <p:cNvSpPr/>
          <p:nvPr/>
        </p:nvSpPr>
        <p:spPr>
          <a:xfrm>
            <a:off x="288000" y="391212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Usuwanie rekordu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80;p 20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67" name="Google Shape;82;p 20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Tworzenie własnych klas błędów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Google Shape;83;p 20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pic>
        <p:nvPicPr>
          <p:cNvPr id="169" name="" descr=""/>
          <p:cNvPicPr/>
          <p:nvPr/>
        </p:nvPicPr>
        <p:blipFill>
          <a:blip r:embed="rId3"/>
          <a:stretch/>
        </p:blipFill>
        <p:spPr>
          <a:xfrm>
            <a:off x="540000" y="1478160"/>
            <a:ext cx="3069720" cy="1581480"/>
          </a:xfrm>
          <a:prstGeom prst="rect">
            <a:avLst/>
          </a:prstGeom>
          <a:ln w="0">
            <a:noFill/>
          </a:ln>
        </p:spPr>
      </p:pic>
      <p:sp>
        <p:nvSpPr>
          <p:cNvPr id="170" name=""/>
          <p:cNvSpPr/>
          <p:nvPr/>
        </p:nvSpPr>
        <p:spPr>
          <a:xfrm>
            <a:off x="540000" y="126000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Przykładowa klasa błędów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4"/>
          <a:stretch/>
        </p:blipFill>
        <p:spPr>
          <a:xfrm>
            <a:off x="4500000" y="1440000"/>
            <a:ext cx="3930120" cy="80316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4500000" y="126000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Zamiast pisać: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5"/>
          <a:stretch/>
        </p:blipFill>
        <p:spPr>
          <a:xfrm>
            <a:off x="4375800" y="2520000"/>
            <a:ext cx="3363840" cy="81648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4500000" y="234000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użyjemy: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80;p 21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76" name="Google Shape;82;p 21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Walidacja danych wejściowych - Yup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Google Shape;83;p 21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  <p:pic>
        <p:nvPicPr>
          <p:cNvPr id="178" name="" descr=""/>
          <p:cNvPicPr/>
          <p:nvPr/>
        </p:nvPicPr>
        <p:blipFill>
          <a:blip r:embed="rId3"/>
          <a:stretch/>
        </p:blipFill>
        <p:spPr>
          <a:xfrm>
            <a:off x="510120" y="2869200"/>
            <a:ext cx="3809520" cy="1770840"/>
          </a:xfrm>
          <a:prstGeom prst="rect">
            <a:avLst/>
          </a:prstGeom>
          <a:ln w="0">
            <a:noFill/>
          </a:ln>
        </p:spPr>
      </p:pic>
      <p:sp>
        <p:nvSpPr>
          <p:cNvPr id="179" name=""/>
          <p:cNvSpPr/>
          <p:nvPr/>
        </p:nvSpPr>
        <p:spPr>
          <a:xfrm>
            <a:off x="540000" y="262800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Przykładowy kod walidacji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540000" y="1163520"/>
            <a:ext cx="8099640" cy="13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200" spc="-1" strike="noStrike">
                <a:solidFill>
                  <a:srgbClr val="000000"/>
                </a:solidFill>
                <a:latin typeface="Montserrat"/>
              </a:rPr>
              <a:t>Yup</a:t>
            </a: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 to biblioteka do walidacji danych w JavaScript, która pozwala tworzyć przejrzyste schematy opisujące strukturę i zasady dla danych. Umożliwia sprawdzanie typów, wymaganych pól oraz reguł takich jak minimalna lub maksymalna długość. Gdy dane są niepoprawne, Yup automatycznie rzuca wyjątek z jasnym komunikatem błędu. Biblioteka działa zarówno w backendzie, jak i frontendzie, dzięki czemu może być używana w całym projekcie. Pomaga utrzymać bezpieczeństwo i porządek w API, ponieważ wymusza kontrolę danych przed dalszym przetwarzaniem. 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4"/>
          <a:stretch/>
        </p:blipFill>
        <p:spPr>
          <a:xfrm>
            <a:off x="4500000" y="2822400"/>
            <a:ext cx="4139640" cy="813240"/>
          </a:xfrm>
          <a:prstGeom prst="rect">
            <a:avLst/>
          </a:prstGeom>
          <a:ln w="0">
            <a:noFill/>
          </a:ln>
        </p:spPr>
      </p:pic>
      <p:sp>
        <p:nvSpPr>
          <p:cNvPr id="182" name=""/>
          <p:cNvSpPr/>
          <p:nvPr/>
        </p:nvSpPr>
        <p:spPr>
          <a:xfrm>
            <a:off x="4608000" y="2639520"/>
            <a:ext cx="3779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l-PL" sz="1200" spc="-1" strike="noStrike">
                <a:solidFill>
                  <a:srgbClr val="000000"/>
                </a:solidFill>
                <a:latin typeface="Montserrat"/>
              </a:rPr>
              <a:t>Przykład użycia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80;p 7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8408880" cy="31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Twoim zadaniem jest przygotowanie samodzielnie</a:t>
            </a:r>
            <a:br>
              <a:rPr sz="2000"/>
            </a:br>
            <a:r>
              <a:rPr b="0" lang="pl-PL" sz="2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zapisu oraz odczytu: </a:t>
            </a:r>
            <a:br>
              <a:rPr sz="2000"/>
            </a:b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Serwisu użytkownika (user)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Kontrolera użytkownika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Walidacji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Routingu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Google Shape;82;p 7"/>
          <p:cNvSpPr/>
          <p:nvPr/>
        </p:nvSpPr>
        <p:spPr>
          <a:xfrm>
            <a:off x="520560" y="177840"/>
            <a:ext cx="466020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Trening czyni mistrza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Google Shape;83;p 7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3480" cy="24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95;p18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88" name="Google Shape;96;p18"/>
          <p:cNvSpPr/>
          <p:nvPr/>
        </p:nvSpPr>
        <p:spPr>
          <a:xfrm>
            <a:off x="520560" y="177840"/>
            <a:ext cx="405036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3500" spc="-1" strike="noStrike">
                <a:solidFill>
                  <a:srgbClr val="000000"/>
                </a:solidFill>
                <a:latin typeface="Montserrat"/>
                <a:ea typeface="Montserrat"/>
              </a:rPr>
              <a:t>Poznaj Sages</a:t>
            </a:r>
            <a:endParaRPr b="0" lang="pl-PL" sz="3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Google Shape;97;p18" descr=""/>
          <p:cNvPicPr/>
          <p:nvPr/>
        </p:nvPicPr>
        <p:blipFill>
          <a:blip r:embed="rId2"/>
          <a:stretch/>
        </p:blipFill>
        <p:spPr>
          <a:xfrm>
            <a:off x="137880" y="1071720"/>
            <a:ext cx="3439440" cy="3439440"/>
          </a:xfrm>
          <a:prstGeom prst="rect">
            <a:avLst/>
          </a:prstGeom>
          <a:ln w="0">
            <a:noFill/>
          </a:ln>
        </p:spPr>
      </p:pic>
      <p:pic>
        <p:nvPicPr>
          <p:cNvPr id="190" name="Google Shape;98;p18" descr=""/>
          <p:cNvPicPr/>
          <p:nvPr/>
        </p:nvPicPr>
        <p:blipFill>
          <a:blip r:embed="rId3"/>
          <a:stretch/>
        </p:blipFill>
        <p:spPr>
          <a:xfrm>
            <a:off x="3036240" y="1071720"/>
            <a:ext cx="3439440" cy="3439440"/>
          </a:xfrm>
          <a:prstGeom prst="rect">
            <a:avLst/>
          </a:prstGeom>
          <a:ln w="0">
            <a:noFill/>
          </a:ln>
        </p:spPr>
      </p:pic>
      <p:pic>
        <p:nvPicPr>
          <p:cNvPr id="191" name="Google Shape;99;p18" descr=""/>
          <p:cNvPicPr/>
          <p:nvPr/>
        </p:nvPicPr>
        <p:blipFill>
          <a:blip r:embed="rId4"/>
          <a:stretch/>
        </p:blipFill>
        <p:spPr>
          <a:xfrm>
            <a:off x="5915520" y="1071720"/>
            <a:ext cx="3439440" cy="3439440"/>
          </a:xfrm>
          <a:prstGeom prst="rect">
            <a:avLst/>
          </a:prstGeom>
          <a:ln w="0">
            <a:noFill/>
          </a:ln>
        </p:spPr>
      </p:pic>
      <p:pic>
        <p:nvPicPr>
          <p:cNvPr id="192" name="Google Shape;100;p18" descr=""/>
          <p:cNvPicPr/>
          <p:nvPr/>
        </p:nvPicPr>
        <p:blipFill>
          <a:blip r:embed="rId5"/>
          <a:stretch/>
        </p:blipFill>
        <p:spPr>
          <a:xfrm>
            <a:off x="0" y="4451400"/>
            <a:ext cx="9143280" cy="69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05;p19" descr=""/>
          <p:cNvPicPr/>
          <p:nvPr/>
        </p:nvPicPr>
        <p:blipFill>
          <a:blip r:embed="rId1"/>
          <a:stretch/>
        </p:blipFill>
        <p:spPr>
          <a:xfrm>
            <a:off x="0" y="350640"/>
            <a:ext cx="9143280" cy="415440"/>
          </a:xfrm>
          <a:prstGeom prst="rect">
            <a:avLst/>
          </a:prstGeom>
          <a:ln w="0">
            <a:noFill/>
          </a:ln>
        </p:spPr>
      </p:pic>
      <p:sp>
        <p:nvSpPr>
          <p:cNvPr id="194" name="Google Shape;106;p19"/>
          <p:cNvSpPr/>
          <p:nvPr/>
        </p:nvSpPr>
        <p:spPr>
          <a:xfrm>
            <a:off x="520560" y="177840"/>
            <a:ext cx="4723560" cy="76140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3300" spc="-1" strike="noStrike">
                <a:solidFill>
                  <a:srgbClr val="000000"/>
                </a:solidFill>
                <a:latin typeface="Montserrat"/>
                <a:ea typeface="Montserrat"/>
              </a:rPr>
              <a:t>Dowiedz się więcej</a:t>
            </a:r>
            <a:endParaRPr b="0" lang="pl-PL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Google Shape;107;p19" descr=""/>
          <p:cNvPicPr/>
          <p:nvPr/>
        </p:nvPicPr>
        <p:blipFill>
          <a:blip r:embed="rId2"/>
          <a:stretch/>
        </p:blipFill>
        <p:spPr>
          <a:xfrm>
            <a:off x="571680" y="1608840"/>
            <a:ext cx="1680120" cy="2233440"/>
          </a:xfrm>
          <a:prstGeom prst="rect">
            <a:avLst/>
          </a:prstGeom>
          <a:ln w="0">
            <a:noFill/>
          </a:ln>
        </p:spPr>
      </p:pic>
      <p:pic>
        <p:nvPicPr>
          <p:cNvPr id="196" name="Google Shape;108;p19" descr=""/>
          <p:cNvPicPr/>
          <p:nvPr/>
        </p:nvPicPr>
        <p:blipFill>
          <a:blip r:embed="rId3"/>
          <a:stretch/>
        </p:blipFill>
        <p:spPr>
          <a:xfrm>
            <a:off x="2702880" y="1608840"/>
            <a:ext cx="1680120" cy="2233440"/>
          </a:xfrm>
          <a:prstGeom prst="rect">
            <a:avLst/>
          </a:prstGeom>
          <a:ln w="0">
            <a:noFill/>
          </a:ln>
        </p:spPr>
      </p:pic>
      <p:pic>
        <p:nvPicPr>
          <p:cNvPr id="197" name="Google Shape;109;p19" descr=""/>
          <p:cNvPicPr/>
          <p:nvPr/>
        </p:nvPicPr>
        <p:blipFill>
          <a:blip r:embed="rId4"/>
          <a:stretch/>
        </p:blipFill>
        <p:spPr>
          <a:xfrm>
            <a:off x="4834080" y="1608840"/>
            <a:ext cx="1680120" cy="2233440"/>
          </a:xfrm>
          <a:prstGeom prst="rect">
            <a:avLst/>
          </a:prstGeom>
          <a:ln w="0">
            <a:noFill/>
          </a:ln>
        </p:spPr>
      </p:pic>
      <p:pic>
        <p:nvPicPr>
          <p:cNvPr id="198" name="Google Shape;110;p19" descr=""/>
          <p:cNvPicPr/>
          <p:nvPr/>
        </p:nvPicPr>
        <p:blipFill>
          <a:blip r:embed="rId5"/>
          <a:stretch/>
        </p:blipFill>
        <p:spPr>
          <a:xfrm>
            <a:off x="6955200" y="1608840"/>
            <a:ext cx="1649160" cy="2233440"/>
          </a:xfrm>
          <a:prstGeom prst="rect">
            <a:avLst/>
          </a:prstGeom>
          <a:ln w="0">
            <a:noFill/>
          </a:ln>
        </p:spPr>
      </p:pic>
      <p:pic>
        <p:nvPicPr>
          <p:cNvPr id="199" name="Google Shape;111;p19" descr=""/>
          <p:cNvPicPr/>
          <p:nvPr/>
        </p:nvPicPr>
        <p:blipFill>
          <a:blip r:embed="rId6"/>
          <a:stretch/>
        </p:blipFill>
        <p:spPr>
          <a:xfrm>
            <a:off x="0" y="4451400"/>
            <a:ext cx="9143280" cy="69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116;p20" descr=""/>
          <p:cNvPicPr/>
          <p:nvPr/>
        </p:nvPicPr>
        <p:blipFill>
          <a:blip r:embed="rId1"/>
          <a:stretch/>
        </p:blipFill>
        <p:spPr>
          <a:xfrm>
            <a:off x="0" y="4451400"/>
            <a:ext cx="9143280" cy="691200"/>
          </a:xfrm>
          <a:prstGeom prst="rect">
            <a:avLst/>
          </a:prstGeom>
          <a:ln w="0">
            <a:noFill/>
          </a:ln>
        </p:spPr>
      </p:pic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014640" y="1347480"/>
            <a:ext cx="5853960" cy="138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l" sz="3120" spc="-1" strike="noStrike">
                <a:solidFill>
                  <a:schemeClr val="dk1"/>
                </a:solidFill>
                <a:latin typeface="Montserrat"/>
                <a:ea typeface="Montserrat"/>
              </a:rPr>
              <a:t>Dziękuję za uwagę!</a:t>
            </a:r>
            <a:endParaRPr b="0" lang="pl-PL" sz="312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l" sz="3120" spc="-1" strike="noStrike">
                <a:solidFill>
                  <a:schemeClr val="dk1"/>
                </a:solidFill>
                <a:latin typeface="Montserrat"/>
                <a:ea typeface="Montserrat"/>
              </a:rPr>
              <a:t>Do zobaczenia na kolejnych warsztatach!</a:t>
            </a:r>
            <a:endParaRPr b="0" lang="pl-PL" sz="31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Google Shape;118;p20" descr=""/>
          <p:cNvPicPr/>
          <p:nvPr/>
        </p:nvPicPr>
        <p:blipFill>
          <a:blip r:embed="rId2"/>
          <a:srcRect l="8218" t="17228" r="6138" b="11140"/>
          <a:stretch/>
        </p:blipFill>
        <p:spPr>
          <a:xfrm>
            <a:off x="0" y="0"/>
            <a:ext cx="4158360" cy="5142960"/>
          </a:xfrm>
          <a:prstGeom prst="rect">
            <a:avLst/>
          </a:prstGeom>
          <a:ln w="0">
            <a:noFill/>
          </a:ln>
        </p:spPr>
      </p:pic>
      <p:pic>
        <p:nvPicPr>
          <p:cNvPr id="203" name="Google Shape;119;p20" descr=""/>
          <p:cNvPicPr/>
          <p:nvPr/>
        </p:nvPicPr>
        <p:blipFill>
          <a:blip r:embed="rId3"/>
          <a:stretch/>
        </p:blipFill>
        <p:spPr>
          <a:xfrm>
            <a:off x="8334720" y="2925720"/>
            <a:ext cx="617760" cy="998640"/>
          </a:xfrm>
          <a:prstGeom prst="rect">
            <a:avLst/>
          </a:prstGeom>
          <a:ln w="0">
            <a:noFill/>
          </a:ln>
        </p:spPr>
      </p:pic>
      <p:sp>
        <p:nvSpPr>
          <p:cNvPr id="204" name="Google Shape;120;p20"/>
          <p:cNvSpPr/>
          <p:nvPr/>
        </p:nvSpPr>
        <p:spPr>
          <a:xfrm>
            <a:off x="6051240" y="3106080"/>
            <a:ext cx="283644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pl" sz="1500" spc="-1" strike="noStrike">
                <a:solidFill>
                  <a:srgbClr val="116b9d"/>
                </a:solidFill>
                <a:latin typeface="Montserrat"/>
                <a:ea typeface="Montserrat"/>
              </a:rPr>
              <a:t>facebook.com/StacjaIT</a:t>
            </a:r>
            <a:endParaRPr b="0" lang="pl-PL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121;p20"/>
          <p:cNvSpPr/>
          <p:nvPr/>
        </p:nvSpPr>
        <p:spPr>
          <a:xfrm>
            <a:off x="5044680" y="3472560"/>
            <a:ext cx="39052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pl" sz="1500" spc="-1" strike="noStrike">
                <a:solidFill>
                  <a:srgbClr val="116b9d"/>
                </a:solidFill>
                <a:latin typeface="Montserrat"/>
                <a:ea typeface="Montserrat"/>
              </a:rPr>
              <a:t>linkedin.com/showcase/stacja-it</a:t>
            </a:r>
            <a:endParaRPr b="0" lang="pl-PL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pl-PL</dc:language>
  <cp:lastModifiedBy/>
  <dcterms:modified xsi:type="dcterms:W3CDTF">2025-12-02T15:32:07Z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